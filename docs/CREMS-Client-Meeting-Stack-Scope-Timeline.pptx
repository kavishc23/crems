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a796d28b6c429b" /><Relationship Type="http://schemas.openxmlformats.org/officeDocument/2006/relationships/extended-properties" Target="/docProps/app.xml" Id="R39d1aad4548246da" /><Relationship Type="http://schemas.openxmlformats.org/officeDocument/2006/relationships/officeDocument" Target="/ppt/presentation.xml" Id="R54708dcd63f34f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74d212f2f34f74"/>
  </p:sldMasterIdLst>
  <p:notesMasterIdLst>
    <p:notesMasterId xmlns:r="http://schemas.openxmlformats.org/officeDocument/2006/relationships" r:id="R5e690a286e774615"/>
  </p:notesMasterIdLst>
  <p:sldIdLst>
    <p:sldId xmlns:r="http://schemas.openxmlformats.org/officeDocument/2006/relationships" id="256" r:id="R7eae8dd2ab254542"/>
    <p:sldId xmlns:r="http://schemas.openxmlformats.org/officeDocument/2006/relationships" id="257" r:id="R7e470ff61f3a4a5d"/>
    <p:sldId xmlns:r="http://schemas.openxmlformats.org/officeDocument/2006/relationships" id="258" r:id="Rbd0a44d0ddf340ca"/>
    <p:sldId xmlns:r="http://schemas.openxmlformats.org/officeDocument/2006/relationships" id="259" r:id="R0ef58b80e4934a87"/>
    <p:sldId xmlns:r="http://schemas.openxmlformats.org/officeDocument/2006/relationships" id="260" r:id="R372e6bbe91fd4737"/>
    <p:sldId xmlns:r="http://schemas.openxmlformats.org/officeDocument/2006/relationships" id="261" r:id="Re603fbe6e9d448fa"/>
    <p:sldId xmlns:r="http://schemas.openxmlformats.org/officeDocument/2006/relationships" id="262" r:id="R2f718c9cfc5d45a3"/>
    <p:sldId xmlns:r="http://schemas.openxmlformats.org/officeDocument/2006/relationships" id="263" r:id="R1e413b1968224c05"/>
    <p:sldId xmlns:r="http://schemas.openxmlformats.org/officeDocument/2006/relationships" id="264" r:id="R9f266e588468429e"/>
    <p:sldId xmlns:r="http://schemas.openxmlformats.org/officeDocument/2006/relationships" id="265" r:id="Rb270d252feab4830"/>
    <p:sldId xmlns:r="http://schemas.openxmlformats.org/officeDocument/2006/relationships" id="266" r:id="Rd453defcb3b646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d339eb7232477a" /><Relationship Type="http://schemas.openxmlformats.org/officeDocument/2006/relationships/slideMaster" Target="/ppt/slideMasters/slideMaster1.xml" Id="R7074d212f2f34f74" /><Relationship Type="http://schemas.openxmlformats.org/officeDocument/2006/relationships/notesMaster" Target="/ppt/notesMasters/notesMaster1.xml" Id="R5e690a286e774615" /><Relationship Type="http://schemas.openxmlformats.org/officeDocument/2006/relationships/presProps" Target="/ppt/presProps.xml" Id="R83dcdba342034a3f" /><Relationship Type="http://schemas.openxmlformats.org/officeDocument/2006/relationships/tableStyles" Target="/ppt/tableStyles.xml" Id="Rbddb2abf7b1e4b83" /><Relationship Type="http://schemas.openxmlformats.org/officeDocument/2006/relationships/slide" Target="/ppt/slides/slide1.xml" Id="R7eae8dd2ab254542" /><Relationship Type="http://schemas.openxmlformats.org/officeDocument/2006/relationships/slide" Target="/ppt/slides/slide2.xml" Id="R7e470ff61f3a4a5d" /><Relationship Type="http://schemas.openxmlformats.org/officeDocument/2006/relationships/slide" Target="/ppt/slides/slide3.xml" Id="Rbd0a44d0ddf340ca" /><Relationship Type="http://schemas.openxmlformats.org/officeDocument/2006/relationships/slide" Target="/ppt/slides/slide4.xml" Id="R0ef58b80e4934a87" /><Relationship Type="http://schemas.openxmlformats.org/officeDocument/2006/relationships/slide" Target="/ppt/slides/slide5.xml" Id="R372e6bbe91fd4737" /><Relationship Type="http://schemas.openxmlformats.org/officeDocument/2006/relationships/slide" Target="/ppt/slides/slide6.xml" Id="Re603fbe6e9d448fa" /><Relationship Type="http://schemas.openxmlformats.org/officeDocument/2006/relationships/slide" Target="/ppt/slides/slide7.xml" Id="R2f718c9cfc5d45a3" /><Relationship Type="http://schemas.openxmlformats.org/officeDocument/2006/relationships/slide" Target="/ppt/slides/slide8.xml" Id="R1e413b1968224c05" /><Relationship Type="http://schemas.openxmlformats.org/officeDocument/2006/relationships/slide" Target="/ppt/slides/slide9.xml" Id="R9f266e588468429e" /><Relationship Type="http://schemas.openxmlformats.org/officeDocument/2006/relationships/slide" Target="/ppt/slides/slide10.xml" Id="Rb270d252feab4830" /><Relationship Type="http://schemas.openxmlformats.org/officeDocument/2006/relationships/slide" Target="/ppt/slides/slide11.xml" Id="Rd453defcb3b646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1c33fb0c614a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558e8f28f14cef" /><Relationship Type="http://schemas.openxmlformats.org/officeDocument/2006/relationships/notesMaster" Target="/ppt/notesMasters/notesMaster1.xml" Id="R1f70439424db4f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c96c7282454c28" /><Relationship Type="http://schemas.openxmlformats.org/officeDocument/2006/relationships/notesMaster" Target="/ppt/notesMasters/notesMaster1.xml" Id="R72bc8b927b074e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1eef6c158946d1" /><Relationship Type="http://schemas.openxmlformats.org/officeDocument/2006/relationships/notesMaster" Target="/ppt/notesMasters/notesMaster1.xml" Id="R406c43f4764e41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49fdf586bf4679" /><Relationship Type="http://schemas.openxmlformats.org/officeDocument/2006/relationships/notesMaster" Target="/ppt/notesMasters/notesMaster1.xml" Id="Rf8b6c9863caf4e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1b0329ea044a1a" /><Relationship Type="http://schemas.openxmlformats.org/officeDocument/2006/relationships/notesMaster" Target="/ppt/notesMasters/notesMaster1.xml" Id="R9a78f720301044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6c6c2660c3419a" /><Relationship Type="http://schemas.openxmlformats.org/officeDocument/2006/relationships/notesMaster" Target="/ppt/notesMasters/notesMaster1.xml" Id="R15dcd4436edb45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304ebc096444c9" /><Relationship Type="http://schemas.openxmlformats.org/officeDocument/2006/relationships/notesMaster" Target="/ppt/notesMasters/notesMaster1.xml" Id="R9f751763100845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c48a8333554185" /><Relationship Type="http://schemas.openxmlformats.org/officeDocument/2006/relationships/notesMaster" Target="/ppt/notesMasters/notesMaster1.xml" Id="R619711cc85874d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39fc9cbfb7404d" /><Relationship Type="http://schemas.openxmlformats.org/officeDocument/2006/relationships/notesMaster" Target="/ppt/notesMasters/notesMaster1.xml" Id="R1ce9dfe51c8043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a3cf3bf72f4c81" /><Relationship Type="http://schemas.openxmlformats.org/officeDocument/2006/relationships/notesMaster" Target="/ppt/notesMasters/notesMaster1.xml" Id="R35085eafb0bd4e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20197781114736" /><Relationship Type="http://schemas.openxmlformats.org/officeDocument/2006/relationships/notesMaster" Target="/ppt/notesMasters/notesMaster1.xml" Id="Racccecf9dfde49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confirming the purpose: agree the platform foundation, the first two divisions and the delivery baseline through 30 October.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Client/project team scope and timeline supplied 10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meeting anchor. The team is not proposing separate systems for each division; it is proposing one reusable platform with two initial operating contexts.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Client/project team scope and timeline supplied 10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these divisions were chosen because together they test both straightforward vehicle rental and more specialised equipment operations.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Client/project team scope and timeline supplied 10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architecture in business terms. Shared modules are built once; division settings decide which workflow and data fields apply.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Client/project team scope and timeline supplied 10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Emphasise end-to-end traceability. Each transaction changes availability and creates evidence for the next operational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Client/project team scope and timeline supplied 10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reporting to the operational workflow: dashboards and reports are not a separate data-entry exercise; they are generated from booking, return and maintenance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Client/project team scope and timeline supplied 10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Confirm that this is the stack already used by the project. Explain that Docker supports the team’s mix of macOS and Windows development environments.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Client/project team scope and timeline supplied 10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1 is the foundation sprint. From Week 2 onward, each sprint adds a demonstrable increment on top of the existing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Client/project team scope and timeline supplied 10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last two sprints protect integration and acceptance time. New scope should not displace security, UAT, documentation or handover activities.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Client/project team scope and timeline supplied 10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demonstrates delivery discipline. Each Friday provides evidence and an opportunity for client feedback before the next increment.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Client/project team scope and timeline supplied 10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delivery commitment: the two pilot divisions create a credible semester outcome and validate the architecture for future divisions.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Client/project team scope and timeline supplied 10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b4535c60e44e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9ae95b860d4407" /><Relationship Type="http://schemas.openxmlformats.org/officeDocument/2006/relationships/slideLayout" Target="/ppt/slideLayouts/slideLayout1.xml" Id="Re5e95ff447b248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e95ff447b248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8d47466324dbf" /><Relationship Type="http://schemas.openxmlformats.org/officeDocument/2006/relationships/image" Target="/ppt/media/image.png" Id="R534cf469a7af4c46" /><Relationship Type="http://schemas.openxmlformats.org/officeDocument/2006/relationships/image" Target="/ppt/media/image.jpeg" Id="Rb7f8125e34824b81" /><Relationship Type="http://schemas.openxmlformats.org/officeDocument/2006/relationships/notesSlide" Target="/ppt/notesSlides/notesSlide1.xml" Id="R2a00c207b56441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a42f8ab284d4c" /><Relationship Type="http://schemas.openxmlformats.org/officeDocument/2006/relationships/notesSlide" Target="/ppt/notesSlides/notesSlide2.xml" Id="Rb2334f028ee043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93e17b1c947fe" /><Relationship Type="http://schemas.openxmlformats.org/officeDocument/2006/relationships/image" Target="/ppt/media/image2.jpeg" Id="R4f61f6ab82c04ef1" /><Relationship Type="http://schemas.openxmlformats.org/officeDocument/2006/relationships/image" Target="/ppt/media/image3.jpeg" Id="R8965638c14354ad7" /><Relationship Type="http://schemas.openxmlformats.org/officeDocument/2006/relationships/notesSlide" Target="/ppt/notesSlides/notesSlide3.xml" Id="Rcea8d1965c9946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d10a139cc411d" /><Relationship Type="http://schemas.openxmlformats.org/officeDocument/2006/relationships/notesSlide" Target="/ppt/notesSlides/notesSlide4.xml" Id="R3aaed9044b3740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a22bdf2a54574" /><Relationship Type="http://schemas.openxmlformats.org/officeDocument/2006/relationships/notesSlide" Target="/ppt/notesSlides/notesSlide5.xml" Id="Rae5ed18b0c8843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3301c12fb4e4d" /><Relationship Type="http://schemas.openxmlformats.org/officeDocument/2006/relationships/notesSlide" Target="/ppt/notesSlides/notesSlide6.xml" Id="R5ec0da93ddb546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9aea993ad4451" /><Relationship Type="http://schemas.openxmlformats.org/officeDocument/2006/relationships/notesSlide" Target="/ppt/notesSlides/notesSlide7.xml" Id="R2015319e31264b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66611a6d24811" /><Relationship Type="http://schemas.openxmlformats.org/officeDocument/2006/relationships/notesSlide" Target="/ppt/notesSlides/notesSlide8.xml" Id="R45bf75b011c441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306b9ac134bf0" /><Relationship Type="http://schemas.openxmlformats.org/officeDocument/2006/relationships/notesSlide" Target="/ppt/notesSlides/notesSlide9.xml" Id="Rc2cc71263dd443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d34fb8d8a4a10" /><Relationship Type="http://schemas.openxmlformats.org/officeDocument/2006/relationships/notesSlide" Target="/ppt/notesSlides/notesSlide10.xml" Id="R4302201f27ec46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d9d9008cd4fbd" /><Relationship Type="http://schemas.openxmlformats.org/officeDocument/2006/relationships/image" Target="/ppt/media/image2.png" Id="R8b4f6c3665c84553" /><Relationship Type="http://schemas.openxmlformats.org/officeDocument/2006/relationships/notesSlide" Target="/ppt/notesSlides/notesSlide11.xml" Id="R0428128c5c8741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510CA-F75C-4C6F-90EC-4F19E7D8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solidFill>
              <a:srgbClr val="FFED00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cf469a7af4c46"/>
          <a:stretch xmlns:a="http://schemas.openxmlformats.org/drawingml/2006/main"/>
        </p:blipFill>
        <p:spPr>
          <a:xfrm xmlns:a="http://schemas.openxmlformats.org/drawingml/2006/main">
            <a:off x="762000" y="685800"/>
            <a:ext cx="876300" cy="876300"/>
          </a:xfrm>
          <a:prstGeom xmlns:a="http://schemas.openxmlformats.org/drawingml/2006/main" prst="roundRect">
            <a:avLst>
              <a:gd name="adj" fmla="val 19565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1D0CE-5F0C-4F52-8C08-696574C8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429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ED00"/>
                </a:solidFill>
              </a:defRPr>
            </a:pPr>
            <a:r>
              <a:rPr sz="1350" b="1">
                <a:solidFill>
                  <a:srgbClr val="FFED00"/>
                </a:solidFill>
              </a:rPr>
              <a:t>CARPENTERS FIJI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48639-4F5C-4607-99A2-95983A05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CREMS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E36B7-0BD1-464C-8679-7417F4E3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676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Technology, pilot scope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and semester delivery 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CFF0E-47C3-4AD7-89BA-30FBE01F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ED00"/>
                </a:solidFill>
              </a:defRPr>
            </a:pPr>
            <a:r>
              <a:rPr sz="1725" b="1">
                <a:solidFill>
                  <a:srgbClr val="FFED00"/>
                </a:solidFill>
              </a:rPr>
              <a:t>Carpenters Rentals + Carptrac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05B91-47CE-4558-B8D5-14BD9209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C7C2"/>
                </a:solidFill>
              </a:defRPr>
            </a:pPr>
            <a:r>
              <a:rPr sz="1350" b="0">
                <a:solidFill>
                  <a:srgbClr val="C7C7C2"/>
                </a:solidFill>
              </a:rPr>
              <a:t>Client meeting  •  10 August 2026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8125e34824b81"/>
          <a:srcRect xmlns:a="http://schemas.openxmlformats.org/drawingml/2006/main" l="27604" t="0" r="276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0"/>
            <a:ext cx="4095750" cy="6858000"/>
          </a:xfrm>
          <a:prstGeom xmlns:a="http://schemas.openxmlformats.org/drawingml/2006/main" prst="roundRect">
            <a:avLst>
              <a:gd name="adj" fmla="val 418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7F019-C095-4700-B4E1-69D6E197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0"/>
            <a:ext cx="66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650757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F15D1-EE2D-4370-A4A2-E0F25FDA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7"/>
                </a:solidFill>
              </a:defRPr>
            </a:pPr>
            <a:r>
              <a:rPr sz="900" b="1">
                <a:solidFill>
                  <a:srgbClr val="6B6B67"/>
                </a:solidFill>
              </a:rPr>
              <a:t>CREMS  /  CLIENT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426FE-B96B-4448-A947-92E48A24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6B67"/>
                </a:solidFill>
              </a:defRPr>
            </a:pPr>
            <a:r>
              <a:rPr sz="900" b="1">
                <a:solidFill>
                  <a:srgbClr val="6B6B67"/>
                </a:solidFill>
              </a:rPr>
              <a:t>02</a:t>
            </a:r>
          </a:p>
        </p:txBody>
      </p:sp>
      <p:sp>
        <p:nvSpPr>
          <p:cNvPr id="3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9E752353-A54D-4354-B768-BD3A8E81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0B0B"/>
                </a:solidFill>
              </a:defRPr>
            </a:pPr>
            <a:r>
              <a:rPr sz="2700" b="1">
                <a:solidFill>
                  <a:srgbClr val="0B0B0B"/>
                </a:solidFill>
              </a:rPr>
              <a:t>Today we are confirming one practical delivery 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759E7-9D77-4598-B376-EB7183AA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solidFill>
              <a:srgbClr val="FFED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DE02F-BB09-4EF4-82CD-3706AD97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6B67"/>
                </a:solidFill>
              </a:defRPr>
            </a:pPr>
            <a:r>
              <a:rPr sz="1200" b="1">
                <a:solidFill>
                  <a:srgbClr val="6B6B67"/>
                </a:solidFill>
              </a:rPr>
              <a:t>TWO PILOT DIVISIONS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24936-4807-42FF-8516-E90FB45C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42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B0B"/>
                </a:solidFill>
              </a:defRPr>
            </a:pPr>
            <a:r>
              <a:rPr sz="2550" b="1">
                <a:solidFill>
                  <a:srgbClr val="0B0B0B"/>
                </a:solidFill>
              </a:rPr>
              <a:t>Carpenters Rentals</a:t>
            </a:r>
          </a:p>
          <a:p xmlns:a="http://schemas.openxmlformats.org/drawingml/2006/main">
            <a:pPr algn="l">
              <a:defRPr sz="2550" b="1">
                <a:solidFill>
                  <a:srgbClr val="0B0B0B"/>
                </a:solidFill>
              </a:defRPr>
            </a:pPr>
            <a:r>
              <a:rPr sz="2550" b="1">
                <a:solidFill>
                  <a:srgbClr val="0B0B0B"/>
                </a:solidFill>
              </a:rPr>
              <a:t>Carptrac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44B9B-44FE-486D-8FDB-5C2D9172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solidFill>
              <a:srgbClr val="FFED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2CF0B-D9D4-417D-8A96-C55EAD87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14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6B67"/>
                </a:solidFill>
              </a:defRPr>
            </a:pPr>
            <a:r>
              <a:rPr sz="1200" b="1">
                <a:solidFill>
                  <a:srgbClr val="6B6B67"/>
                </a:solidFill>
              </a:rPr>
              <a:t>ONE MODULAR 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3FA05-4B85-4349-8185-96C25F52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0"/>
            <a:ext cx="3524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B0B"/>
                </a:solidFill>
              </a:defRPr>
            </a:pPr>
            <a:r>
              <a:rPr sz="2550" b="1">
                <a:solidFill>
                  <a:srgbClr val="0B0B0B"/>
                </a:solidFill>
              </a:rPr>
              <a:t>Shared capabilities,</a:t>
            </a:r>
          </a:p>
          <a:p xmlns:a="http://schemas.openxmlformats.org/drawingml/2006/main">
            <a:pPr algn="l">
              <a:defRPr sz="2550" b="1">
                <a:solidFill>
                  <a:srgbClr val="0B0B0B"/>
                </a:solidFill>
              </a:defRPr>
            </a:pPr>
            <a:r>
              <a:rPr sz="2550" b="1">
                <a:solidFill>
                  <a:srgbClr val="0B0B0B"/>
                </a:solidFill>
              </a:rPr>
              <a:t>configurable rules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32375-9CA3-4CBB-959D-B73044C9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7660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solidFill>
              <a:srgbClr val="FFED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DCEE7-6A8E-487E-B675-E14CC26A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6B67"/>
                </a:solidFill>
              </a:defRPr>
            </a:pPr>
            <a:r>
              <a:rPr sz="1200" b="1">
                <a:solidFill>
                  <a:srgbClr val="6B6B67"/>
                </a:solidFill>
              </a:rPr>
              <a:t>TWELVE WEEKS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82246-11A4-4081-B5D4-2EC8B25C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314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B0B"/>
                </a:solidFill>
              </a:defRPr>
            </a:pPr>
            <a:r>
              <a:rPr sz="2550" b="1">
                <a:solidFill>
                  <a:srgbClr val="0B0B0B"/>
                </a:solidFill>
              </a:rPr>
              <a:t>10 August to</a:t>
            </a:r>
          </a:p>
          <a:p xmlns:a="http://schemas.openxmlformats.org/drawingml/2006/main">
            <a:pPr algn="l">
              <a:defRPr sz="2550" b="1">
                <a:solidFill>
                  <a:srgbClr val="0B0B0B"/>
                </a:solidFill>
              </a:defRPr>
            </a:pPr>
            <a:r>
              <a:rPr sz="2550" b="1">
                <a:solidFill>
                  <a:srgbClr val="0B0B0B"/>
                </a:solidFill>
              </a:rPr>
              <a:t>30 October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0E1F5-3F11-42CB-827F-BAB2EC31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7660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solidFill>
              <a:srgbClr val="FFED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F25358-083E-46D7-9DE6-E8716209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72FDC-5037-4DE1-92C3-4F6199EB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Outcome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E3D7C3-D9C8-4CC6-B5C5-BE89BEFA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91000"/>
            <a:ext cx="828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B0B0B"/>
                </a:solidFill>
              </a:defRPr>
            </a:pPr>
            <a:r>
              <a:rPr sz="2025" b="0">
                <a:solidFill>
                  <a:srgbClr val="0B0B0B"/>
                </a:solidFill>
              </a:rPr>
              <a:t>A tested rental and maintenance MVP that supports vehicle and heavy-equipment workflows while leaving a clean path for future Carpenters divisions.</a:t>
            </a:r>
          </a:p>
        </p:txBody>
      </p:sp>
    </p:spTree>
    <p:extLst>
      <p:ext uri="{BB962C8B-B14F-4D97-AF65-F5344CB8AC3E}">
        <p14:creationId xmlns:p14="http://schemas.microsoft.com/office/powerpoint/2010/main" val="18838134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22E4F-F24D-4194-9889-0A8F0AD0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7"/>
                </a:solidFill>
              </a:defRPr>
            </a:pPr>
            <a:r>
              <a:rPr sz="900" b="1">
                <a:solidFill>
                  <a:srgbClr val="6B6B67"/>
                </a:solidFill>
              </a:rPr>
              <a:t>CREMS  /  CLIENT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F211D-8D75-4D2F-86C7-471BB20B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6B67"/>
                </a:solidFill>
              </a:defRPr>
            </a:pPr>
            <a:r>
              <a:rPr sz="900" b="1">
                <a:solidFill>
                  <a:srgbClr val="6B6B67"/>
                </a:solidFill>
              </a:rPr>
              <a:t>03</a:t>
            </a:r>
          </a:p>
        </p:txBody>
      </p:sp>
      <p:sp>
        <p:nvSpPr>
          <p:cNvPr id="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3E0D4798-7A06-47B7-A635-AA148CE2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0B0B"/>
                </a:solidFill>
              </a:defRPr>
            </a:pPr>
            <a:r>
              <a:rPr sz="2700" b="1">
                <a:solidFill>
                  <a:srgbClr val="0B0B0B"/>
                </a:solidFill>
              </a:rPr>
              <a:t>Two pilot divisions prove the model across different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35FDD-25BB-4A36-9DFD-43A99711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solidFill>
              <a:srgbClr val="FFED00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61f6ab82c04ef1"/>
          <a:srcRect xmlns:a="http://schemas.openxmlformats.org/drawingml/2006/main" l="0" t="9259" r="0" b="92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19250"/>
            <a:ext cx="3429000" cy="2095500"/>
          </a:xfrm>
          <a:prstGeom xmlns:a="http://schemas.openxmlformats.org/drawingml/2006/main" prst="roundRect">
            <a:avLst>
              <a:gd name="adj" fmla="val 818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D1B75-5344-43C6-A74C-BEB7F8A5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B0B"/>
                </a:solidFill>
              </a:defRPr>
            </a:pPr>
            <a:r>
              <a:rPr sz="2250" b="1">
                <a:solidFill>
                  <a:srgbClr val="0B0B0B"/>
                </a:solidFill>
              </a:rPr>
              <a:t>Carpenters Rentals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AC8A0-B27C-41BF-9EE7-5245E963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B67"/>
                </a:solidFill>
              </a:defRPr>
            </a:pPr>
            <a:r>
              <a:rPr sz="1500" b="0">
                <a:solidFill>
                  <a:srgbClr val="6B6B67"/>
                </a:solidFill>
              </a:rPr>
              <a:t>Vehicle-led booking, agreements, pickup, return, damage evidence and fleet utilisation.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65638c14354ad7"/>
          <a:srcRect xmlns:a="http://schemas.openxmlformats.org/drawingml/2006/main" l="0" t="9259" r="0" b="92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0" y="1619250"/>
            <a:ext cx="3429000" cy="2095500"/>
          </a:xfrm>
          <a:prstGeom xmlns:a="http://schemas.openxmlformats.org/drawingml/2006/main" prst="roundRect">
            <a:avLst>
              <a:gd name="adj" fmla="val 818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6CDBB3-0F8D-40BA-A79D-80DD4691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243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B0B"/>
                </a:solidFill>
              </a:defRPr>
            </a:pPr>
            <a:r>
              <a:rPr sz="2250" b="1">
                <a:solidFill>
                  <a:srgbClr val="0B0B0B"/>
                </a:solidFill>
              </a:rPr>
              <a:t>Carptrac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9C547-D45B-4096-B08C-E0686633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10075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B67"/>
                </a:solidFill>
              </a:defRPr>
            </a:pPr>
            <a:r>
              <a:rPr sz="1500" b="0">
                <a:solidFill>
                  <a:srgbClr val="6B6B67"/>
                </a:solidFill>
              </a:rPr>
              <a:t>Equipment availability, hour-meter tracking, personnel requirements, inspections and maintenance.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93E73-34A7-4854-ACDE-C5DD068C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19250"/>
            <a:ext cx="3352800" cy="3790950"/>
          </a:xfrm>
          <a:prstGeom xmlns:a="http://schemas.openxmlformats.org/drawingml/2006/main" prst="roundRect">
            <a:avLst>
              <a:gd name="adj" fmla="val 5114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2E89D-FF85-490A-A400-46A376A9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ED00"/>
                </a:solidFill>
              </a:defRPr>
            </a:pPr>
            <a:r>
              <a:rPr sz="1875" b="1">
                <a:solidFill>
                  <a:srgbClr val="FFED00"/>
                </a:solidFill>
              </a:rPr>
              <a:t>What this validates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CCFAE-A008-42C5-8855-52F9B915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95550"/>
            <a:ext cx="26860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• One customer foundation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• One asset lifecycle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• Different operational rules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• Division and branch controls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• Reusable reporting</a:t>
            </a:r>
          </a:p>
        </p:txBody>
      </p:sp>
    </p:spTree>
    <p:extLst>
      <p:ext uri="{BB962C8B-B14F-4D97-AF65-F5344CB8AC3E}">
        <p14:creationId xmlns:p14="http://schemas.microsoft.com/office/powerpoint/2010/main" val="8887040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9BF873-F0F1-4516-9BF7-C5848C53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7"/>
                </a:solidFill>
              </a:defRPr>
            </a:pPr>
            <a:r>
              <a:rPr sz="900" b="1">
                <a:solidFill>
                  <a:srgbClr val="6B6B67"/>
                </a:solidFill>
              </a:rPr>
              <a:t>CREMS  /  CLIENT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8B71B-D761-45C9-A448-B783C34B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6B67"/>
                </a:solidFill>
              </a:defRPr>
            </a:pPr>
            <a:r>
              <a:rPr sz="900" b="1">
                <a:solidFill>
                  <a:srgbClr val="6B6B67"/>
                </a:solidFill>
              </a:rPr>
              <a:t>04</a:t>
            </a:r>
          </a:p>
        </p:txBody>
      </p:sp>
      <p:sp>
        <p:nvSpPr>
          <p:cNvPr id="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36F1D36C-45F1-494B-9A05-D55B9F38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0B0B"/>
                </a:solidFill>
              </a:defRPr>
            </a:pPr>
            <a:r>
              <a:rPr sz="2700" b="1">
                <a:solidFill>
                  <a:srgbClr val="0B0B0B"/>
                </a:solidFill>
              </a:rPr>
              <a:t>Shared modules reduce duplication; rules stay configurable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BBE4F-8CBF-4706-8372-84F6153A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solidFill>
              <a:srgbClr val="FFED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17BD2-D257-4CA6-BC31-C393E099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6B67"/>
                </a:solidFill>
              </a:defRPr>
            </a:pPr>
            <a:r>
              <a:rPr sz="1275" b="1">
                <a:solidFill>
                  <a:srgbClr val="6B6B67"/>
                </a:solidFill>
              </a:rPr>
              <a:t>SHARED CREMS 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BC2B7-ECF1-47F8-A6CB-625EF9FC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B0B"/>
                </a:solidFill>
              </a:defRPr>
            </a:pPr>
            <a:r>
              <a:rPr sz="2025" b="1">
                <a:solidFill>
                  <a:srgbClr val="0B0B0B"/>
                </a:solidFill>
              </a:rPr>
              <a:t>Identity  •  Customers  •  Branches  •  Assets  •  Bookings  •  Agreements  •  Inspections  •  Maintenance  •  Notifications  •  Audit  •  Reports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30293-BB74-438E-BA92-C4DF980E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896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solidFill>
              <a:srgbClr val="FFED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27F4D-BAE2-4C2E-82EB-C00B8D29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6B67"/>
                </a:solidFill>
              </a:defRPr>
            </a:pPr>
            <a:r>
              <a:rPr sz="1200" b="1">
                <a:solidFill>
                  <a:srgbClr val="6B6B67"/>
                </a:solidFill>
              </a:rPr>
              <a:t>RENTALS CONFIGURATION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1DD31-C862-4B15-A5C9-9CE16EEB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714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B0B"/>
                </a:solidFill>
              </a:defRPr>
            </a:pPr>
            <a:r>
              <a:rPr sz="1650" b="0">
                <a:solidFill>
                  <a:srgbClr val="0B0B0B"/>
                </a:solidFill>
              </a:rPr>
              <a:t>Vehicle categories</a:t>
            </a:r>
          </a:p>
          <a:p xmlns:a="http://schemas.openxmlformats.org/drawingml/2006/main">
            <a:pPr algn="l">
              <a:defRPr sz="1650" b="0">
                <a:solidFill>
                  <a:srgbClr val="0B0B0B"/>
                </a:solidFill>
              </a:defRPr>
            </a:pPr>
            <a:r>
              <a:rPr sz="1650" b="0">
                <a:solidFill>
                  <a:srgbClr val="0B0B0B"/>
                </a:solidFill>
              </a:rPr>
              <a:t>Licence and driver details</a:t>
            </a:r>
          </a:p>
          <a:p xmlns:a="http://schemas.openxmlformats.org/drawingml/2006/main">
            <a:pPr algn="l">
              <a:defRPr sz="1650" b="0">
                <a:solidFill>
                  <a:srgbClr val="0B0B0B"/>
                </a:solidFill>
              </a:defRPr>
            </a:pPr>
            <a:r>
              <a:rPr sz="1650" b="0">
                <a:solidFill>
                  <a:srgbClr val="0B0B0B"/>
                </a:solidFill>
              </a:rPr>
              <a:t>Fuel and odometer</a:t>
            </a:r>
          </a:p>
          <a:p xmlns:a="http://schemas.openxmlformats.org/drawingml/2006/main">
            <a:pPr algn="l">
              <a:defRPr sz="1650" b="0">
                <a:solidFill>
                  <a:srgbClr val="0B0B0B"/>
                </a:solidFill>
              </a:defRPr>
            </a:pPr>
            <a:r>
              <a:rPr sz="1650" b="0">
                <a:solidFill>
                  <a:srgbClr val="0B0B0B"/>
                </a:solidFill>
              </a:rPr>
              <a:t>Daily rental and return rules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B9985-E6AA-4E64-A174-49B60CE6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956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6B67"/>
                </a:solidFill>
              </a:defRPr>
            </a:pPr>
            <a:r>
              <a:rPr sz="1200" b="1">
                <a:solidFill>
                  <a:srgbClr val="6B6B67"/>
                </a:solidFill>
              </a:rPr>
              <a:t>CARPTRAC CONFIGURATION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F55C61-9B75-4B01-ADF1-CD43157C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86200"/>
            <a:ext cx="3714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B0B"/>
                </a:solidFill>
              </a:defRPr>
            </a:pPr>
            <a:r>
              <a:rPr sz="1650" b="0">
                <a:solidFill>
                  <a:srgbClr val="0B0B0B"/>
                </a:solidFill>
              </a:rPr>
              <a:t>Equipment categories</a:t>
            </a:r>
          </a:p>
          <a:p xmlns:a="http://schemas.openxmlformats.org/drawingml/2006/main">
            <a:pPr algn="l">
              <a:defRPr sz="1650" b="0">
                <a:solidFill>
                  <a:srgbClr val="0B0B0B"/>
                </a:solidFill>
              </a:defRPr>
            </a:pPr>
            <a:r>
              <a:rPr sz="1650" b="0">
                <a:solidFill>
                  <a:srgbClr val="0B0B0B"/>
                </a:solidFill>
              </a:rPr>
              <a:t>Hour-meter readings</a:t>
            </a:r>
          </a:p>
          <a:p xmlns:a="http://schemas.openxmlformats.org/drawingml/2006/main">
            <a:pPr algn="l">
              <a:defRPr sz="1650" b="0">
                <a:solidFill>
                  <a:srgbClr val="0B0B0B"/>
                </a:solidFill>
              </a:defRPr>
            </a:pPr>
            <a:r>
              <a:rPr sz="1650" b="0">
                <a:solidFill>
                  <a:srgbClr val="0B0B0B"/>
                </a:solidFill>
              </a:rPr>
              <a:t>Operator or technician rules</a:t>
            </a:r>
          </a:p>
          <a:p xmlns:a="http://schemas.openxmlformats.org/drawingml/2006/main">
            <a:pPr algn="l">
              <a:defRPr sz="1650" b="0">
                <a:solidFill>
                  <a:srgbClr val="0B0B0B"/>
                </a:solidFill>
              </a:defRPr>
            </a:pPr>
            <a:r>
              <a:rPr sz="1650" b="0">
                <a:solidFill>
                  <a:srgbClr val="0B0B0B"/>
                </a:solidFill>
              </a:rPr>
              <a:t>Equipment maintenance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99C07-E2BB-4042-9B11-A03BA5F1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956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6B67"/>
                </a:solidFill>
              </a:defRPr>
            </a:pPr>
            <a:r>
              <a:rPr sz="1200" b="1">
                <a:solidFill>
                  <a:srgbClr val="6B6B67"/>
                </a:solidFill>
              </a:rPr>
              <a:t>FUTURE DIVISIONS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C4F66D-DB61-4034-8642-326CF61C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86200"/>
            <a:ext cx="2857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B0B"/>
                </a:solidFill>
              </a:defRPr>
            </a:pPr>
            <a:r>
              <a:rPr sz="1650" b="0">
                <a:solidFill>
                  <a:srgbClr val="0B0B0B"/>
                </a:solidFill>
              </a:rPr>
              <a:t>Add a division</a:t>
            </a:r>
          </a:p>
          <a:p xmlns:a="http://schemas.openxmlformats.org/drawingml/2006/main">
            <a:pPr algn="l">
              <a:defRPr sz="1650" b="0">
                <a:solidFill>
                  <a:srgbClr val="0B0B0B"/>
                </a:solidFill>
              </a:defRPr>
            </a:pPr>
            <a:r>
              <a:rPr sz="1650" b="0">
                <a:solidFill>
                  <a:srgbClr val="0B0B0B"/>
                </a:solidFill>
              </a:rPr>
              <a:t>Enable capabilities</a:t>
            </a:r>
          </a:p>
          <a:p xmlns:a="http://schemas.openxmlformats.org/drawingml/2006/main">
            <a:pPr algn="l">
              <a:defRPr sz="1650" b="0">
                <a:solidFill>
                  <a:srgbClr val="0B0B0B"/>
                </a:solidFill>
              </a:defRPr>
            </a:pPr>
            <a:r>
              <a:rPr sz="1650" b="0">
                <a:solidFill>
                  <a:srgbClr val="0B0B0B"/>
                </a:solidFill>
              </a:rPr>
              <a:t>Configure its workflow</a:t>
            </a:r>
          </a:p>
          <a:p xmlns:a="http://schemas.openxmlformats.org/drawingml/2006/main">
            <a:pPr algn="l">
              <a:defRPr sz="1650" b="0">
                <a:solidFill>
                  <a:srgbClr val="0B0B0B"/>
                </a:solidFill>
              </a:defRPr>
            </a:pPr>
            <a:r>
              <a:rPr sz="1650" b="0">
                <a:solidFill>
                  <a:srgbClr val="0B0B0B"/>
                </a:solidFill>
              </a:rPr>
              <a:t>Reuse the core platform</a:t>
            </a:r>
          </a:p>
        </p:txBody>
      </p:sp>
    </p:spTree>
    <p:extLst>
      <p:ext uri="{BB962C8B-B14F-4D97-AF65-F5344CB8AC3E}">
        <p14:creationId xmlns:p14="http://schemas.microsoft.com/office/powerpoint/2010/main" val="13320737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D296EE-10DB-4F9C-A3E2-CFCA72D6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7"/>
                </a:solidFill>
              </a:defRPr>
            </a:pPr>
            <a:r>
              <a:rPr sz="900" b="1">
                <a:solidFill>
                  <a:srgbClr val="6B6B67"/>
                </a:solidFill>
              </a:rPr>
              <a:t>CREMS  /  CLIENT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5FFC9-FF5E-46F1-B944-5D7292FB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6B67"/>
                </a:solidFill>
              </a:defRPr>
            </a:pPr>
            <a:r>
              <a:rPr sz="900" b="1">
                <a:solidFill>
                  <a:srgbClr val="6B6B67"/>
                </a:solidFill>
              </a:rPr>
              <a:t>05</a:t>
            </a:r>
          </a:p>
        </p:txBody>
      </p:sp>
      <p:sp>
        <p:nvSpPr>
          <p:cNvPr id="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93F54850-A092-4845-8426-0DE07CC2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0B0B"/>
                </a:solidFill>
              </a:defRPr>
            </a:pPr>
            <a:r>
              <a:rPr sz="2700" b="1">
                <a:solidFill>
                  <a:srgbClr val="0B0B0B"/>
                </a:solidFill>
              </a:rPr>
              <a:t>The MVP covers the full rental transaction lifecycle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53981-E7B8-4F72-B2C0-031C048B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solidFill>
              <a:srgbClr val="FFED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1C150-D35B-4489-A874-FC5730B9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ED00"/>
                </a:solidFill>
              </a:defRPr>
            </a:pPr>
            <a:r>
              <a:rPr sz="3150" b="1">
                <a:solidFill>
                  <a:srgbClr val="FFED00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9E283-8BC1-4502-B9E9-B22D3270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526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B0B"/>
                </a:solidFill>
              </a:defRPr>
            </a:pPr>
            <a:r>
              <a:rPr sz="1950" b="1">
                <a:solidFill>
                  <a:srgbClr val="0B0B0B"/>
                </a:solidFill>
              </a:rPr>
              <a:t>Control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26CC7-FF54-425C-9074-C4A9923F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6B67"/>
                </a:solidFill>
              </a:defRPr>
            </a:pPr>
            <a:r>
              <a:rPr sz="1425" b="0">
                <a:solidFill>
                  <a:srgbClr val="6B6B67"/>
                </a:solidFill>
              </a:rPr>
              <a:t>Staff authentication and Administrator, Branch Manager and Rental Officer permissions.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5ABD3-DF94-4AFD-A5F3-6A12D204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ED00"/>
                </a:solidFill>
              </a:defRPr>
            </a:pPr>
            <a:r>
              <a:rPr sz="3150" b="1">
                <a:solidFill>
                  <a:srgbClr val="FFED00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21CE0-CC56-4AF0-ACF5-32C2F6B1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B0B"/>
                </a:solidFill>
              </a:defRPr>
            </a:pPr>
            <a:r>
              <a:rPr sz="1950" b="1">
                <a:solidFill>
                  <a:srgbClr val="0B0B0B"/>
                </a:solidFill>
              </a:rPr>
              <a:t>Prepare the rental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402E5-27D0-49D5-925C-84A3195B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814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6B67"/>
                </a:solidFill>
              </a:defRPr>
            </a:pPr>
            <a:r>
              <a:rPr sz="1425" b="0">
                <a:solidFill>
                  <a:srgbClr val="6B6B67"/>
                </a:solidFill>
              </a:rPr>
              <a:t>Vehicle and equipment masters, customers, reservations and real-time availability.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AB862-CCFD-4B9A-826E-A9D1A631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ED00"/>
                </a:solidFill>
              </a:defRPr>
            </a:pPr>
            <a:r>
              <a:rPr sz="3150" b="1">
                <a:solidFill>
                  <a:srgbClr val="FFED00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3F8A57-9104-4CB6-856B-B1A47425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26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B0B"/>
                </a:solidFill>
              </a:defRPr>
            </a:pPr>
            <a:r>
              <a:rPr sz="1950" b="1">
                <a:solidFill>
                  <a:srgbClr val="0B0B0B"/>
                </a:solidFill>
              </a:rPr>
              <a:t>Release the asset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7A54B-3E33-4BA9-8BA2-3AFFCC8A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907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6B67"/>
                </a:solidFill>
              </a:defRPr>
            </a:pPr>
            <a:r>
              <a:rPr sz="1425" b="0">
                <a:solidFill>
                  <a:srgbClr val="6B6B67"/>
                </a:solidFill>
              </a:rPr>
              <a:t>Agreement generation, allocation, QR identification and inspection-based check-out.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731AF-75EF-4E8D-9703-45E085D1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ED00"/>
                </a:solidFill>
              </a:defRPr>
            </a:pPr>
            <a:r>
              <a:rPr sz="3150" b="1">
                <a:solidFill>
                  <a:srgbClr val="FFED00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CA45B2-9773-47C3-B1A8-1689C98B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432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B0B"/>
                </a:solidFill>
              </a:defRPr>
            </a:pPr>
            <a:r>
              <a:rPr sz="1950" b="1">
                <a:solidFill>
                  <a:srgbClr val="0B0B0B"/>
                </a:solidFill>
              </a:rPr>
              <a:t>Close the rental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1D2E07-CE9A-432C-AEB5-8DCD7237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814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6B67"/>
                </a:solidFill>
              </a:defRPr>
            </a:pPr>
            <a:r>
              <a:rPr sz="1425" b="0">
                <a:solidFill>
                  <a:srgbClr val="6B6B67"/>
                </a:solidFill>
              </a:rPr>
              <a:t>Return processing, inspections, damage reporting and maintenance request creation.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CD898-5AD4-4613-B63C-3E356B65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8966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2739A1-DBA0-4303-92E6-0A48DD39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149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 single traceable flow: reservation → agreement → allocation → check-out → return → maintenance decision</a:t>
            </a:r>
          </a:p>
        </p:txBody>
      </p:sp>
    </p:spTree>
    <p:extLst>
      <p:ext uri="{BB962C8B-B14F-4D97-AF65-F5344CB8AC3E}">
        <p14:creationId xmlns:p14="http://schemas.microsoft.com/office/powerpoint/2010/main" val="6389137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877F3-F1DA-46F1-9897-446F0B5A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7"/>
                </a:solidFill>
              </a:defRPr>
            </a:pPr>
            <a:r>
              <a:rPr sz="900" b="1">
                <a:solidFill>
                  <a:srgbClr val="6B6B67"/>
                </a:solidFill>
              </a:rPr>
              <a:t>CREMS  /  CLIENT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CC05C-ACB8-47F7-B2D5-2A8A00A3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6B67"/>
                </a:solidFill>
              </a:defRPr>
            </a:pPr>
            <a:r>
              <a:rPr sz="900" b="1">
                <a:solidFill>
                  <a:srgbClr val="6B6B67"/>
                </a:solidFill>
              </a:rPr>
              <a:t>06</a:t>
            </a:r>
          </a:p>
        </p:txBody>
      </p:sp>
      <p:sp>
        <p:nvSpPr>
          <p:cNvPr id="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B4B6C65B-B83D-4DDA-83B7-6FD16160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0B0B"/>
                </a:solidFill>
              </a:defRPr>
            </a:pPr>
            <a:r>
              <a:rPr sz="2700" b="1">
                <a:solidFill>
                  <a:srgbClr val="0B0B0B"/>
                </a:solidFill>
              </a:rPr>
              <a:t>Management visibility is built into the same operational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AB001-ABA8-478A-928E-5455526B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solidFill>
              <a:srgbClr val="FFED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8182F-9CAB-43FD-8EFF-69E73753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6B67"/>
                </a:solidFill>
              </a:defRPr>
            </a:pPr>
            <a:r>
              <a:rPr sz="1200" b="1">
                <a:solidFill>
                  <a:srgbClr val="6B6B67"/>
                </a:solidFill>
              </a:rPr>
              <a:t>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8B0D4-B72F-4FE6-9610-97E7AEC8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429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B0B"/>
                </a:solidFill>
              </a:defRPr>
            </a:pPr>
            <a:r>
              <a:rPr sz="2025" b="1">
                <a:solidFill>
                  <a:srgbClr val="0B0B0B"/>
                </a:solidFill>
              </a:rPr>
              <a:t>Available</a:t>
            </a:r>
          </a:p>
          <a:p xmlns:a="http://schemas.openxmlformats.org/drawingml/2006/main">
            <a:pPr algn="l">
              <a:defRPr sz="2025" b="1">
                <a:solidFill>
                  <a:srgbClr val="0B0B0B"/>
                </a:solidFill>
              </a:defRPr>
            </a:pPr>
            <a:r>
              <a:rPr sz="2025" b="1">
                <a:solidFill>
                  <a:srgbClr val="0B0B0B"/>
                </a:solidFill>
              </a:rPr>
              <a:t>Currently rented</a:t>
            </a:r>
          </a:p>
          <a:p xmlns:a="http://schemas.openxmlformats.org/drawingml/2006/main">
            <a:pPr algn="l">
              <a:defRPr sz="2025" b="1">
                <a:solidFill>
                  <a:srgbClr val="0B0B0B"/>
                </a:solidFill>
              </a:defRPr>
            </a:pPr>
            <a:r>
              <a:rPr sz="2025" b="1">
                <a:solidFill>
                  <a:srgbClr val="0B0B0B"/>
                </a:solidFill>
              </a:rPr>
              <a:t>Under maintenance</a:t>
            </a:r>
          </a:p>
          <a:p xmlns:a="http://schemas.openxmlformats.org/drawingml/2006/main">
            <a:pPr algn="l">
              <a:defRPr sz="2025" b="1">
                <a:solidFill>
                  <a:srgbClr val="0B0B0B"/>
                </a:solidFill>
              </a:defRPr>
            </a:pPr>
            <a:r>
              <a:rPr sz="2025" b="1">
                <a:solidFill>
                  <a:srgbClr val="0B0B0B"/>
                </a:solidFill>
              </a:rPr>
              <a:t>Upcoming bookings</a:t>
            </a:r>
          </a:p>
          <a:p xmlns:a="http://schemas.openxmlformats.org/drawingml/2006/main">
            <a:pPr algn="l">
              <a:defRPr sz="2025" b="1">
                <a:solidFill>
                  <a:srgbClr val="0B0B0B"/>
                </a:solidFill>
              </a:defRPr>
            </a:pPr>
            <a:r>
              <a:rPr sz="2025" b="1">
                <a:solidFill>
                  <a:srgbClr val="0B0B0B"/>
                </a:solidFill>
              </a:rPr>
              <a:t>Overdue rentals</a:t>
            </a:r>
          </a:p>
          <a:p xmlns:a="http://schemas.openxmlformats.org/drawingml/2006/main">
            <a:pPr algn="l">
              <a:defRPr sz="2025" b="1">
                <a:solidFill>
                  <a:srgbClr val="0B0B0B"/>
                </a:solidFill>
              </a:defRPr>
            </a:pPr>
            <a:r>
              <a:rPr sz="2025" b="1">
                <a:solidFill>
                  <a:srgbClr val="0B0B0B"/>
                </a:solidFill>
              </a:rPr>
              <a:t>Revenue summary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5E700-F7EC-49BB-AE5B-5D032BDF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571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00162-251C-4E61-BC91-A07CC020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57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6B67"/>
                </a:solidFill>
              </a:defRPr>
            </a:pPr>
            <a:r>
              <a:rPr sz="1200" b="1">
                <a:solidFill>
                  <a:srgbClr val="6B6B67"/>
                </a:solidFill>
              </a:rPr>
              <a:t>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290CF-BB7B-4BE9-B1D2-59FA7416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38350"/>
            <a:ext cx="3619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0B0B"/>
                </a:solidFill>
              </a:defRPr>
            </a:pPr>
            <a:r>
              <a:rPr sz="1800" b="0">
                <a:solidFill>
                  <a:srgbClr val="0B0B0B"/>
                </a:solidFill>
              </a:rPr>
              <a:t>Rental history</a:t>
            </a:r>
          </a:p>
          <a:p xmlns:a="http://schemas.openxmlformats.org/drawingml/2006/main">
            <a:pPr algn="l">
              <a:defRPr sz="1800" b="0">
                <a:solidFill>
                  <a:srgbClr val="0B0B0B"/>
                </a:solidFill>
              </a:defRPr>
            </a:pPr>
            <a:r>
              <a:rPr sz="1800" b="0">
                <a:solidFill>
                  <a:srgbClr val="0B0B0B"/>
                </a:solidFill>
              </a:rPr>
              <a:t>Fleet utilisation</a:t>
            </a:r>
          </a:p>
          <a:p xmlns:a="http://schemas.openxmlformats.org/drawingml/2006/main">
            <a:pPr algn="l">
              <a:defRPr sz="1800" b="0">
                <a:solidFill>
                  <a:srgbClr val="0B0B0B"/>
                </a:solidFill>
              </a:defRPr>
            </a:pPr>
            <a:r>
              <a:rPr sz="1800" b="0">
                <a:solidFill>
                  <a:srgbClr val="0B0B0B"/>
                </a:solidFill>
              </a:rPr>
              <a:t>Equipment utilisation</a:t>
            </a:r>
          </a:p>
          <a:p xmlns:a="http://schemas.openxmlformats.org/drawingml/2006/main">
            <a:pPr algn="l">
              <a:defRPr sz="1800" b="0">
                <a:solidFill>
                  <a:srgbClr val="0B0B0B"/>
                </a:solidFill>
              </a:defRPr>
            </a:pPr>
            <a:r>
              <a:rPr sz="1800" b="0">
                <a:solidFill>
                  <a:srgbClr val="0B0B0B"/>
                </a:solidFill>
              </a:rPr>
              <a:t>Maintenance report</a:t>
            </a:r>
          </a:p>
          <a:p xmlns:a="http://schemas.openxmlformats.org/drawingml/2006/main">
            <a:pPr algn="l">
              <a:defRPr sz="1800" b="0">
                <a:solidFill>
                  <a:srgbClr val="0B0B0B"/>
                </a:solidFill>
              </a:defRPr>
            </a:pPr>
            <a:r>
              <a:rPr sz="1800" b="0">
                <a:solidFill>
                  <a:srgbClr val="0B0B0B"/>
                </a:solidFill>
              </a:rPr>
              <a:t>Revenue report</a:t>
            </a:r>
          </a:p>
          <a:p xmlns:a="http://schemas.openxmlformats.org/drawingml/2006/main">
            <a:pPr algn="l">
              <a:defRPr sz="1800" b="0">
                <a:solidFill>
                  <a:srgbClr val="0B0B0B"/>
                </a:solidFill>
              </a:defRPr>
            </a:pPr>
            <a:r>
              <a:rPr sz="1800" b="0">
                <a:solidFill>
                  <a:srgbClr val="0B0B0B"/>
                </a:solidFill>
              </a:rPr>
              <a:t>Overdue rentals</a:t>
            </a:r>
          </a:p>
          <a:p xmlns:a="http://schemas.openxmlformats.org/drawingml/2006/main">
            <a:pPr algn="l">
              <a:defRPr sz="1800" b="0">
                <a:solidFill>
                  <a:srgbClr val="0B0B0B"/>
                </a:solidFill>
              </a:defRPr>
            </a:pPr>
            <a:r>
              <a:rPr sz="1800" b="0">
                <a:solidFill>
                  <a:srgbClr val="0B0B0B"/>
                </a:solidFill>
              </a:rPr>
              <a:t>Customer rental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B4F24-0F2E-4BA7-8914-ED3CCB57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19250"/>
            <a:ext cx="2743200" cy="37147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D3840-D89F-4DB7-A607-3D73D8CC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24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ED00"/>
                </a:solidFill>
              </a:defRPr>
            </a:pPr>
            <a:r>
              <a:rPr sz="1875" b="1">
                <a:solidFill>
                  <a:srgbClr val="FFED00"/>
                </a:solidFill>
              </a:rPr>
              <a:t>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573508-2836-4281-A3A6-BB4CCD75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21145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Email notifications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Preventive maintenance reminders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QR / barcode identification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Critical transaction audit logs</a:t>
            </a:r>
          </a:p>
        </p:txBody>
      </p:sp>
    </p:spTree>
    <p:extLst>
      <p:ext uri="{BB962C8B-B14F-4D97-AF65-F5344CB8AC3E}">
        <p14:creationId xmlns:p14="http://schemas.microsoft.com/office/powerpoint/2010/main" val="9093485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304736-0F43-419F-BF4E-A9C4CA94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7"/>
                </a:solidFill>
              </a:defRPr>
            </a:pPr>
            <a:r>
              <a:rPr sz="900" b="1">
                <a:solidFill>
                  <a:srgbClr val="6B6B67"/>
                </a:solidFill>
              </a:rPr>
              <a:t>CREMS  /  CLIENT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550A7-BBF5-4CDE-A206-25BF6DB3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6B67"/>
                </a:solidFill>
              </a:defRPr>
            </a:pPr>
            <a:r>
              <a:rPr sz="900" b="1">
                <a:solidFill>
                  <a:srgbClr val="6B6B67"/>
                </a:solidFill>
              </a:rPr>
              <a:t>07</a:t>
            </a:r>
          </a:p>
        </p:txBody>
      </p:sp>
      <p:sp>
        <p:nvSpPr>
          <p:cNvPr id="3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EBA97A48-7667-428F-A2DA-E7B2798B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0B0B"/>
                </a:solidFill>
              </a:defRPr>
            </a:pPr>
            <a:r>
              <a:rPr sz="2700" b="1">
                <a:solidFill>
                  <a:srgbClr val="0B0B0B"/>
                </a:solidFill>
              </a:rPr>
              <a:t>The selected stack is secure, maintainable and team-ready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0D892-2C73-4FE0-A768-14D48A53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solidFill>
              <a:srgbClr val="FFED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13AA7-887D-4E3D-A50B-7280C684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6B67"/>
                </a:solidFill>
              </a:defRPr>
            </a:pPr>
            <a:r>
              <a:rPr sz="1125" b="1">
                <a:solidFill>
                  <a:srgbClr val="6B6B67"/>
                </a:solidFill>
              </a:rPr>
              <a:t>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05868-E3F9-49B5-B45C-DB8F4591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811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B"/>
                </a:solidFill>
              </a:defRPr>
            </a:pPr>
            <a:r>
              <a:rPr sz="1575" b="1">
                <a:solidFill>
                  <a:srgbClr val="0B0B0B"/>
                </a:solidFill>
              </a:rPr>
              <a:t>React + TypeScript + Vite + Material 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8B9FF-589B-44B8-B51A-51263F4D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0020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B67"/>
                </a:solidFill>
              </a:defRPr>
            </a:pPr>
            <a:r>
              <a:rPr sz="1275" b="0">
                <a:solidFill>
                  <a:srgbClr val="6B6B67"/>
                </a:solidFill>
              </a:rPr>
              <a:t>Responsive staff and customer interfaces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92D17-CCC7-4E87-B94E-0CC48DAE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D2"/>
          </a:solidFill>
          <a:ln xmlns:a="http://schemas.openxmlformats.org/drawingml/2006/main" w="0">
            <a:solidFill>
              <a:srgbClr val="D9D8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26B44-94C9-4BD3-80F8-EAFB941F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6B67"/>
                </a:solidFill>
              </a:defRPr>
            </a:pPr>
            <a:r>
              <a:rPr sz="1125" b="1">
                <a:solidFill>
                  <a:srgbClr val="6B6B67"/>
                </a:solidFill>
              </a:rPr>
              <a:t>APPLICATION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1C3EA-E7E1-4C0A-ADD0-932645E6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669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B"/>
                </a:solidFill>
              </a:defRPr>
            </a:pPr>
            <a:r>
              <a:rPr sz="1575" b="1">
                <a:solidFill>
                  <a:srgbClr val="0B0B0B"/>
                </a:solidFill>
              </a:rPr>
              <a:t>ASP.NET Core 10 Web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5202C-6D89-43F9-8948-19D9B44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B67"/>
                </a:solidFill>
              </a:defRPr>
            </a:pPr>
            <a:r>
              <a:rPr sz="1275" b="0">
                <a:solidFill>
                  <a:srgbClr val="6B6B67"/>
                </a:solidFill>
              </a:rPr>
              <a:t>Business rules, workflows and integrations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567F7-2C39-495A-9BA1-FC361467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D2"/>
          </a:solidFill>
          <a:ln xmlns:a="http://schemas.openxmlformats.org/drawingml/2006/main" w="0">
            <a:solidFill>
              <a:srgbClr val="D9D8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14A8E-09F5-4C25-A002-C19C80BF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6B67"/>
                </a:solidFill>
              </a:defRPr>
            </a:pPr>
            <a:r>
              <a:rPr sz="1125" b="1">
                <a:solidFill>
                  <a:srgbClr val="6B6B67"/>
                </a:solidFill>
              </a:rPr>
              <a:t>IDENTITY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9A53A-9CF6-4680-8FFA-34242A2E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527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B"/>
                </a:solidFill>
              </a:defRPr>
            </a:pPr>
            <a:r>
              <a:rPr sz="1575" b="1">
                <a:solidFill>
                  <a:srgbClr val="0B0B0B"/>
                </a:solidFill>
              </a:rPr>
              <a:t>ASP.NET Core Identity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0DD5A2-C746-489B-BCBA-ED299B6F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7180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B67"/>
                </a:solidFill>
              </a:defRPr>
            </a:pPr>
            <a:r>
              <a:rPr sz="1275" b="0">
                <a:solidFill>
                  <a:srgbClr val="6B6B67"/>
                </a:solidFill>
              </a:rPr>
              <a:t>Authentication, recovery and role-based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DCCBC-7996-4652-B571-526A281A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D2"/>
          </a:solidFill>
          <a:ln xmlns:a="http://schemas.openxmlformats.org/drawingml/2006/main" w="0">
            <a:solidFill>
              <a:srgbClr val="D9D8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FAC2DC-799E-40BF-8709-403EB228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6B67"/>
                </a:solidFill>
              </a:defRPr>
            </a:pPr>
            <a:r>
              <a:rPr sz="1125" b="1">
                <a:solidFill>
                  <a:srgbClr val="6B6B67"/>
                </a:solidFill>
              </a:rPr>
              <a:t>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83B0D-6E16-4B69-8558-F8F6F81C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385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B"/>
                </a:solidFill>
              </a:defRPr>
            </a:pPr>
            <a:r>
              <a:rPr sz="1575" b="1">
                <a:solidFill>
                  <a:srgbClr val="0B0B0B"/>
                </a:solidFill>
              </a:rPr>
              <a:t>SQL Server 2022 + Entity Framework 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FE950B-7CB7-46E7-8807-DAEF34E8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5760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B67"/>
                </a:solidFill>
              </a:defRPr>
            </a:pPr>
            <a:r>
              <a:rPr sz="1275" b="0">
                <a:solidFill>
                  <a:srgbClr val="6B6B67"/>
                </a:solidFill>
              </a:rPr>
              <a:t>Transactions, relationships and migrations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FB0ED3-A78E-493D-A428-849EC9BB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D2"/>
          </a:solidFill>
          <a:ln xmlns:a="http://schemas.openxmlformats.org/drawingml/2006/main" w="0">
            <a:solidFill>
              <a:srgbClr val="D9D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0173EE-C997-4927-9B38-A94D797B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6B67"/>
                </a:solidFill>
              </a:defRPr>
            </a:pPr>
            <a:r>
              <a:rPr sz="1125" b="1">
                <a:solidFill>
                  <a:srgbClr val="6B6B67"/>
                </a:solidFill>
              </a:rPr>
              <a:t>DELIVERY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5196FC-02F2-4DD8-B2B0-E0A24945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243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B"/>
                </a:solidFill>
              </a:defRPr>
            </a:pPr>
            <a:r>
              <a:rPr sz="1575" b="1">
                <a:solidFill>
                  <a:srgbClr val="0B0B0B"/>
                </a:solidFill>
              </a:rPr>
              <a:t>Docker + GitHub + Postman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C0FAA4-AC6E-4D6C-BA0E-970110D0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B67"/>
                </a:solidFill>
              </a:defRPr>
            </a:pPr>
            <a:r>
              <a:rPr sz="1275" b="0">
                <a:solidFill>
                  <a:srgbClr val="6B6B67"/>
                </a:solidFill>
              </a:rPr>
              <a:t>Consistent setup, collaboration and API testing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062A57-ADE9-4B24-B028-234A118D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D2"/>
          </a:solidFill>
          <a:ln xmlns:a="http://schemas.openxmlformats.org/drawingml/2006/main" w="0">
            <a:solidFill>
              <a:srgbClr val="D9D8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5CD351-0124-4489-A4F8-F591EBEE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6B67"/>
                </a:solidFill>
              </a:defRPr>
            </a:pPr>
            <a:r>
              <a:rPr sz="1125" b="1">
                <a:solidFill>
                  <a:srgbClr val="6B6B67"/>
                </a:solidFill>
              </a:rPr>
              <a:t>SERVICES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1D8BBD-DA06-4C1B-B27C-0BEEE433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101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B"/>
                </a:solidFill>
              </a:defRPr>
            </a:pPr>
            <a:r>
              <a:rPr sz="1575" b="1">
                <a:solidFill>
                  <a:srgbClr val="0B0B0B"/>
                </a:solidFill>
              </a:rPr>
              <a:t>SMTP / email provider + PDF + QR libraries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684C49-753A-4968-A019-A38C237D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2920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B67"/>
                </a:solidFill>
              </a:defRPr>
            </a:pPr>
            <a:r>
              <a:rPr sz="1275" b="0">
                <a:solidFill>
                  <a:srgbClr val="6B6B67"/>
                </a:solidFill>
              </a:rPr>
              <a:t>Notifications, agreements and asset identification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4CEA22-164F-492F-9C48-E093EAE2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D2"/>
          </a:solidFill>
          <a:ln xmlns:a="http://schemas.openxmlformats.org/drawingml/2006/main" w="0">
            <a:solidFill>
              <a:srgbClr val="D9D8D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77402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1E83DC-F65A-40EE-AC2C-7A6B5BC7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7"/>
                </a:solidFill>
              </a:defRPr>
            </a:pPr>
            <a:r>
              <a:rPr sz="900" b="1">
                <a:solidFill>
                  <a:srgbClr val="6B6B67"/>
                </a:solidFill>
              </a:rPr>
              <a:t>CREMS  /  CLIENT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DF98D-5F4D-4462-AC4D-FD7D3DF6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6B67"/>
                </a:solidFill>
              </a:defRPr>
            </a:pPr>
            <a:r>
              <a:rPr sz="900" b="1">
                <a:solidFill>
                  <a:srgbClr val="6B6B67"/>
                </a:solidFill>
              </a:rPr>
              <a:t>08</a:t>
            </a:r>
          </a:p>
        </p:txBody>
      </p:sp>
      <p:sp>
        <p:nvSpPr>
          <p:cNvPr id="3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AC37365A-FCA7-4254-83E0-64D7C6FB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0B0B"/>
                </a:solidFill>
              </a:defRPr>
            </a:pPr>
            <a:r>
              <a:rPr sz="2700" b="1">
                <a:solidFill>
                  <a:srgbClr val="0B0B0B"/>
                </a:solidFill>
              </a:rPr>
              <a:t>Weeks 1–6 establish the secure rental foundation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47ACE-B5FA-4F5A-A70F-ED94E81B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solidFill>
              <a:srgbClr val="FFED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DCCA9-001B-4990-8261-4E9B1E27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ED00"/>
                </a:solidFill>
              </a:defRPr>
            </a:pPr>
            <a:r>
              <a:rPr sz="1950" b="1">
                <a:solidFill>
                  <a:srgbClr val="FFED00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C4DA4-6C05-4B2F-B2EC-AAD8CF7D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097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6B67"/>
                </a:solidFill>
              </a:defRPr>
            </a:pPr>
            <a:r>
              <a:rPr sz="1275" b="1">
                <a:solidFill>
                  <a:srgbClr val="6B6B67"/>
                </a:solidFill>
              </a:rPr>
              <a:t>10–14 Aug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A07A3-B807-451E-B180-2BD6EE57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811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B"/>
                </a:solidFill>
              </a:defRPr>
            </a:pPr>
            <a:r>
              <a:rPr sz="1725" b="1">
                <a:solidFill>
                  <a:srgbClr val="0B0B0B"/>
                </a:solidFill>
              </a:rPr>
              <a:t>Scope, schema, stack and authentication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AA827-8CB3-4F16-A86C-67058DD7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D2"/>
          </a:solidFill>
          <a:ln xmlns:a="http://schemas.openxmlformats.org/drawingml/2006/main" w="0">
            <a:solidFill>
              <a:srgbClr val="D9D8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564F2-92CD-4D24-BA36-E88EAB41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ED00"/>
                </a:solidFill>
              </a:defRPr>
            </a:pPr>
            <a:r>
              <a:rPr sz="1950" b="1">
                <a:solidFill>
                  <a:srgbClr val="FFED00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951CE-3273-4889-BD7C-64D47AEF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33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6B67"/>
                </a:solidFill>
              </a:defRPr>
            </a:pPr>
            <a:r>
              <a:rPr sz="1275" b="1">
                <a:solidFill>
                  <a:srgbClr val="6B6B67"/>
                </a:solidFill>
              </a:rPr>
              <a:t>17–21 Aug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DC3FB-E3E0-4EF9-97F4-73FA9CF0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050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0B0B"/>
                </a:solidFill>
              </a:defRPr>
            </a:pPr>
            <a:r>
              <a:rPr sz="1725" b="0">
                <a:solidFill>
                  <a:srgbClr val="0B0B0B"/>
                </a:solidFill>
              </a:rPr>
              <a:t>Divisions, branches, roles and access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645C0-D9F1-40A7-BCAF-05993E73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D2"/>
          </a:solidFill>
          <a:ln xmlns:a="http://schemas.openxmlformats.org/drawingml/2006/main" w="0">
            <a:solidFill>
              <a:srgbClr val="D9D8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D675F-B878-4F2F-8D3E-EA6804F8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ED00"/>
                </a:solidFill>
              </a:defRPr>
            </a:pPr>
            <a:r>
              <a:rPr sz="1950" b="1">
                <a:solidFill>
                  <a:srgbClr val="FFED00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195ECB-2A6B-49A8-A3AB-F7F1C59F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575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6B67"/>
                </a:solidFill>
              </a:defRPr>
            </a:pPr>
            <a:r>
              <a:rPr sz="1275" b="1">
                <a:solidFill>
                  <a:srgbClr val="6B6B67"/>
                </a:solidFill>
              </a:rPr>
              <a:t>24–28 Aug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2334EB-819C-4B31-93C8-95354329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289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0B0B"/>
                </a:solidFill>
              </a:defRPr>
            </a:pPr>
            <a:r>
              <a:rPr sz="1725" b="0">
                <a:solidFill>
                  <a:srgbClr val="0B0B0B"/>
                </a:solidFill>
              </a:rPr>
              <a:t>Vehicle and equipment master management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D09BB1-1E68-4713-9B72-8B513435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D2"/>
          </a:solidFill>
          <a:ln xmlns:a="http://schemas.openxmlformats.org/drawingml/2006/main" w="0">
            <a:solidFill>
              <a:srgbClr val="D9D8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DCAC0D-9731-479D-944D-753EA2DA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ED00"/>
                </a:solidFill>
              </a:defRPr>
            </a:pPr>
            <a:r>
              <a:rPr sz="1950" b="1">
                <a:solidFill>
                  <a:srgbClr val="FFED00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E3C773-A73A-4FD6-ADF2-090CFF56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814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6B67"/>
                </a:solidFill>
              </a:defRPr>
            </a:pPr>
            <a:r>
              <a:rPr sz="1275" b="1">
                <a:solidFill>
                  <a:srgbClr val="6B6B67"/>
                </a:solidFill>
              </a:rPr>
              <a:t>31 Aug–4 Sep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29EE38-7C33-45F2-861D-98F9960A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528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0B0B"/>
                </a:solidFill>
              </a:defRPr>
            </a:pPr>
            <a:r>
              <a:rPr sz="1725" b="0">
                <a:solidFill>
                  <a:srgbClr val="0B0B0B"/>
                </a:solidFill>
              </a:rPr>
              <a:t>Individual and corporate customer records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D3C31A-A310-4D43-8C3D-F09C0411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D2"/>
          </a:solidFill>
          <a:ln xmlns:a="http://schemas.openxmlformats.org/drawingml/2006/main" w="0">
            <a:solidFill>
              <a:srgbClr val="D9D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91B004-7A7C-451B-8855-3933CB3F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ED00"/>
                </a:solidFill>
              </a:defRPr>
            </a:pPr>
            <a:r>
              <a:rPr sz="1950" b="1">
                <a:solidFill>
                  <a:srgbClr val="FFED00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20E06F-94B3-4AC7-8759-01149503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053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6B67"/>
                </a:solidFill>
              </a:defRPr>
            </a:pPr>
            <a:r>
              <a:rPr sz="1275" b="1">
                <a:solidFill>
                  <a:srgbClr val="6B6B67"/>
                </a:solidFill>
              </a:rPr>
              <a:t>7–11 Sep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8BF2E9-0D67-4E2D-9D74-7F2F6481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767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0B0B"/>
                </a:solidFill>
              </a:defRPr>
            </a:pPr>
            <a:r>
              <a:rPr sz="1725" b="0">
                <a:solidFill>
                  <a:srgbClr val="0B0B0B"/>
                </a:solidFill>
              </a:rPr>
              <a:t>Availability, reservations and conflict prevention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21AEFD-91D1-42CC-A4D9-A040BF46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D2"/>
          </a:solidFill>
          <a:ln xmlns:a="http://schemas.openxmlformats.org/drawingml/2006/main" w="0">
            <a:solidFill>
              <a:srgbClr val="D9D8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2FA956-980C-46DE-9B35-AD9EED88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ED00"/>
                </a:solidFill>
              </a:defRPr>
            </a:pPr>
            <a:r>
              <a:rPr sz="1950" b="1">
                <a:solidFill>
                  <a:srgbClr val="FFED00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A4DC13-D365-43E1-B80C-C4B1F642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292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6B67"/>
                </a:solidFill>
              </a:defRPr>
            </a:pPr>
            <a:r>
              <a:rPr sz="1275" b="1">
                <a:solidFill>
                  <a:srgbClr val="6B6B67"/>
                </a:solidFill>
              </a:rPr>
              <a:t>14–18 Sep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E13316-47E7-4A72-B099-5603DAD2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006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0B0B"/>
                </a:solidFill>
              </a:defRPr>
            </a:pPr>
            <a:r>
              <a:rPr sz="1725" b="0">
                <a:solidFill>
                  <a:srgbClr val="0B0B0B"/>
                </a:solidFill>
              </a:rPr>
              <a:t>Agreements, approvals and asset allocation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912410-6EB5-49BB-8B1E-04DE656D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D2"/>
          </a:solidFill>
          <a:ln xmlns:a="http://schemas.openxmlformats.org/drawingml/2006/main" w="0">
            <a:solidFill>
              <a:srgbClr val="D9D8D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378968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BE5A63-67C2-4172-85BA-16CF827B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7"/>
                </a:solidFill>
              </a:defRPr>
            </a:pPr>
            <a:r>
              <a:rPr sz="900" b="1">
                <a:solidFill>
                  <a:srgbClr val="6B6B67"/>
                </a:solidFill>
              </a:rPr>
              <a:t>CREMS  /  CLIENT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7FF27-85E8-45BB-9DFA-59CFE4A5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6B67"/>
                </a:solidFill>
              </a:defRPr>
            </a:pPr>
            <a:r>
              <a:rPr sz="900" b="1">
                <a:solidFill>
                  <a:srgbClr val="6B6B67"/>
                </a:solidFill>
              </a:rPr>
              <a:t>09</a:t>
            </a:r>
          </a:p>
        </p:txBody>
      </p:sp>
      <p:sp>
        <p:nvSpPr>
          <p:cNvPr id="3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6A03917C-A48A-4F30-9C20-E7F5283A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0B0B"/>
                </a:solidFill>
              </a:defRPr>
            </a:pPr>
            <a:r>
              <a:rPr sz="2700" b="1">
                <a:solidFill>
                  <a:srgbClr val="0B0B0B"/>
                </a:solidFill>
              </a:rPr>
              <a:t>Weeks 7–12 complete operations, insight and handover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7AC0D-5107-4EBE-A6DA-78F1E702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solidFill>
              <a:srgbClr val="FFED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111B6-A67B-49DD-9559-9C71A206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ED00"/>
                </a:solidFill>
              </a:defRPr>
            </a:pPr>
            <a:r>
              <a:rPr sz="1950" b="1">
                <a:solidFill>
                  <a:srgbClr val="FFED00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A1137-C82C-4955-94BB-6D929FBC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097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6B67"/>
                </a:solidFill>
              </a:defRPr>
            </a:pPr>
            <a:r>
              <a:rPr sz="1275" b="1">
                <a:solidFill>
                  <a:srgbClr val="6B6B67"/>
                </a:solidFill>
              </a:rPr>
              <a:t>21–25 Sep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A3CFD-6429-42C8-A2FA-80B7D7DF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811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0B0B"/>
                </a:solidFill>
              </a:defRPr>
            </a:pPr>
            <a:r>
              <a:rPr sz="1725" b="0">
                <a:solidFill>
                  <a:srgbClr val="0B0B0B"/>
                </a:solidFill>
              </a:rPr>
              <a:t>QR-assisted check-out and condition inspections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B042B-6473-4915-BA80-B38FA2FF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D2"/>
          </a:solidFill>
          <a:ln xmlns:a="http://schemas.openxmlformats.org/drawingml/2006/main" w="0">
            <a:solidFill>
              <a:srgbClr val="D9D8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8FEDF-D2DA-41B8-9955-783E85C7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ED00"/>
                </a:solidFill>
              </a:defRPr>
            </a:pPr>
            <a:r>
              <a:rPr sz="1950" b="1">
                <a:solidFill>
                  <a:srgbClr val="FFED00"/>
                </a:solidFill>
              </a:rPr>
              <a:t>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C11FF-23A1-44B3-9304-14B3E66E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33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6B67"/>
                </a:solidFill>
              </a:defRPr>
            </a:pPr>
            <a:r>
              <a:rPr sz="1275" b="1">
                <a:solidFill>
                  <a:srgbClr val="6B6B67"/>
                </a:solidFill>
              </a:rPr>
              <a:t>28 Sep–2 Oct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AF45C9-B789-489E-BB0B-7F4D91E9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050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0B0B"/>
                </a:solidFill>
              </a:defRPr>
            </a:pPr>
            <a:r>
              <a:rPr sz="1725" b="0">
                <a:solidFill>
                  <a:srgbClr val="0B0B0B"/>
                </a:solidFill>
              </a:rPr>
              <a:t>Return, damage evidence and charge decisions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DD08E-3B78-4C45-945F-7B0988F1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D2"/>
          </a:solidFill>
          <a:ln xmlns:a="http://schemas.openxmlformats.org/drawingml/2006/main" w="0">
            <a:solidFill>
              <a:srgbClr val="D9D8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BCF7E-0C15-47E1-9A05-3E029262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ED00"/>
                </a:solidFill>
              </a:defRPr>
            </a:pPr>
            <a:r>
              <a:rPr sz="1950" b="1">
                <a:solidFill>
                  <a:srgbClr val="FFED00"/>
                </a:solidFill>
              </a:rPr>
              <a:t>09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6C954-DA48-4C45-90DC-62A80492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575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6B67"/>
                </a:solidFill>
              </a:defRPr>
            </a:pPr>
            <a:r>
              <a:rPr sz="1275" b="1">
                <a:solidFill>
                  <a:srgbClr val="6B6B67"/>
                </a:solidFill>
              </a:rPr>
              <a:t>5–9 Oct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488F80-939D-47BC-93C7-7CE297D6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289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0B0B"/>
                </a:solidFill>
              </a:defRPr>
            </a:pPr>
            <a:r>
              <a:rPr sz="1725" b="0">
                <a:solidFill>
                  <a:srgbClr val="0B0B0B"/>
                </a:solidFill>
              </a:rPr>
              <a:t>Maintenance schedules, jobs, costs and reminders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D5213-643C-4CF8-81C7-E1CDF56E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D2"/>
          </a:solidFill>
          <a:ln xmlns:a="http://schemas.openxmlformats.org/drawingml/2006/main" w="0">
            <a:solidFill>
              <a:srgbClr val="D9D8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12CA2D-C673-4E93-8E83-7AF83F12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ED00"/>
                </a:solidFill>
              </a:defRPr>
            </a:pPr>
            <a:r>
              <a:rPr sz="1950" b="1">
                <a:solidFill>
                  <a:srgbClr val="FFED00"/>
                </a:solidFill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E8172-0931-47D4-9856-9910D40C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814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6B67"/>
                </a:solidFill>
              </a:defRPr>
            </a:pPr>
            <a:r>
              <a:rPr sz="1275" b="1">
                <a:solidFill>
                  <a:srgbClr val="6B6B67"/>
                </a:solidFill>
              </a:rPr>
              <a:t>12–16 Oct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D59215-1A14-47DC-AEE6-A7A7E6F7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528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0B0B"/>
                </a:solidFill>
              </a:defRPr>
            </a:pPr>
            <a:r>
              <a:rPr sz="1725" b="0">
                <a:solidFill>
                  <a:srgbClr val="0B0B0B"/>
                </a:solidFill>
              </a:rPr>
              <a:t>Dashboard, utilisation and management reports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AF9052-6774-458F-9D91-60ECD4EA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D2"/>
          </a:solidFill>
          <a:ln xmlns:a="http://schemas.openxmlformats.org/drawingml/2006/main" w="0">
            <a:solidFill>
              <a:srgbClr val="D9D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46ACF5-CF3B-442D-B33E-4F549DAA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ED00"/>
                </a:solidFill>
              </a:defRPr>
            </a:pPr>
            <a:r>
              <a:rPr sz="1950" b="1">
                <a:solidFill>
                  <a:srgbClr val="FFED00"/>
                </a:solidFill>
              </a:rPr>
              <a:t>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CFCF1A-94E7-4617-ACBB-FA4191C9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053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6B67"/>
                </a:solidFill>
              </a:defRPr>
            </a:pPr>
            <a:r>
              <a:rPr sz="1275" b="1">
                <a:solidFill>
                  <a:srgbClr val="6B6B67"/>
                </a:solidFill>
              </a:rPr>
              <a:t>19–23 Oct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9A4980-9CF2-4845-A90E-A5A10186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767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0B0B"/>
                </a:solidFill>
              </a:defRPr>
            </a:pPr>
            <a:r>
              <a:rPr sz="1725" b="0">
                <a:solidFill>
                  <a:srgbClr val="0B0B0B"/>
                </a:solidFill>
              </a:rPr>
              <a:t>Notifications, audit, integration and security testing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7BFF4D-8F8A-49D5-B0A8-AA5CB7C6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D2"/>
          </a:solidFill>
          <a:ln xmlns:a="http://schemas.openxmlformats.org/drawingml/2006/main" w="0">
            <a:solidFill>
              <a:srgbClr val="D9D8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32EEFC-C67D-4961-BE9F-2FBA1C52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ED00"/>
                </a:solidFill>
              </a:defRPr>
            </a:pPr>
            <a:r>
              <a:rPr sz="1950" b="1">
                <a:solidFill>
                  <a:srgbClr val="FFED00"/>
                </a:solidFill>
              </a:rPr>
              <a:t>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535419-E0BA-4B83-BBF4-BA2E05C1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292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6B67"/>
                </a:solidFill>
              </a:defRPr>
            </a:pPr>
            <a:r>
              <a:rPr sz="1275" b="1">
                <a:solidFill>
                  <a:srgbClr val="6B6B67"/>
                </a:solidFill>
              </a:rPr>
              <a:t>26–30 Oct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02F01E-D20C-465E-BAB9-88E762DF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006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B"/>
                </a:solidFill>
              </a:defRPr>
            </a:pPr>
            <a:r>
              <a:rPr sz="1725" b="1">
                <a:solidFill>
                  <a:srgbClr val="0B0B0B"/>
                </a:solidFill>
              </a:rPr>
              <a:t>Client UAT, defect correction, training and handover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4C2AB3-D102-4060-8AD7-D22EEABE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D2"/>
          </a:solidFill>
          <a:ln xmlns:a="http://schemas.openxmlformats.org/drawingml/2006/main" w="0">
            <a:solidFill>
              <a:srgbClr val="D9D8D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169185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DE5787-6A08-4078-9C56-123BBBD2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6B67"/>
                </a:solidFill>
              </a:defRPr>
            </a:pPr>
            <a:r>
              <a:rPr sz="900" b="1">
                <a:solidFill>
                  <a:srgbClr val="6B6B67"/>
                </a:solidFill>
              </a:rPr>
              <a:t>CREMS  /  CLIENT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801F0-1E0C-46F5-8F66-4A963617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6B67"/>
                </a:solidFill>
              </a:defRPr>
            </a:pPr>
            <a:r>
              <a:rPr sz="900" b="1">
                <a:solidFill>
                  <a:srgbClr val="6B6B67"/>
                </a:solidFill>
              </a:rPr>
              <a:t>10</a:t>
            </a:r>
          </a:p>
        </p:txBody>
      </p:sp>
      <p:sp>
        <p:nvSpPr>
          <p:cNvPr id="3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0F1DE757-A954-4A71-BE67-294DD6EC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0B0B"/>
                </a:solidFill>
              </a:defRPr>
            </a:pPr>
            <a:r>
              <a:rPr sz="2700" b="1">
                <a:solidFill>
                  <a:srgbClr val="0B0B0B"/>
                </a:solidFill>
              </a:rPr>
              <a:t>Every sprint ends with working evidence, not only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F0E1D-54C1-4AF1-8473-C04002C7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solidFill>
              <a:srgbClr val="FFED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409AA-83DA-48DA-930D-A7B42B94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6B67"/>
                </a:solidFill>
              </a:defRPr>
            </a:pPr>
            <a:r>
              <a:rPr sz="1200" b="1">
                <a:solidFill>
                  <a:srgbClr val="6B6B67"/>
                </a:solidFill>
              </a:rPr>
              <a:t>MONDAY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637FF-BA2F-4832-A2DC-5E58B8E1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B0B"/>
                </a:solidFill>
              </a:defRPr>
            </a:pPr>
            <a:r>
              <a:rPr sz="1950" b="1">
                <a:solidFill>
                  <a:srgbClr val="0B0B0B"/>
                </a:solidFill>
              </a:rPr>
              <a:t>Plan the sprint</a:t>
            </a:r>
          </a:p>
          <a:p xmlns:a="http://schemas.openxmlformats.org/drawingml/2006/main">
            <a:pPr algn="l">
              <a:defRPr sz="1950" b="1">
                <a:solidFill>
                  <a:srgbClr val="0B0B0B"/>
                </a:solidFill>
              </a:defRPr>
            </a:pPr>
            <a:r>
              <a:rPr sz="1950" b="1">
                <a:solidFill>
                  <a:srgbClr val="0B0B0B"/>
                </a:solidFill>
              </a:rPr>
              <a:t>and confirm acceptance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ABF01-C376-477E-9A81-B87CAE2A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solidFill>
              <a:srgbClr val="FFED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5FC93-0951-4CE7-AFA5-2EC88F02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6B67"/>
                </a:solidFill>
              </a:defRPr>
            </a:pPr>
            <a:r>
              <a:rPr sz="1200" b="1">
                <a:solidFill>
                  <a:srgbClr val="6B6B67"/>
                </a:solidFill>
              </a:rPr>
              <a:t>TUE–WED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064EB-D8E9-4539-A30F-0E396605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86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B0B"/>
                </a:solidFill>
              </a:defRPr>
            </a:pPr>
            <a:r>
              <a:rPr sz="1950" b="1">
                <a:solidFill>
                  <a:srgbClr val="0B0B0B"/>
                </a:solidFill>
              </a:rPr>
              <a:t>Develop, review</a:t>
            </a:r>
          </a:p>
          <a:p xmlns:a="http://schemas.openxmlformats.org/drawingml/2006/main">
            <a:pPr algn="l">
              <a:defRPr sz="1950" b="1">
                <a:solidFill>
                  <a:srgbClr val="0B0B0B"/>
                </a:solidFill>
              </a:defRPr>
            </a:pPr>
            <a:r>
              <a:rPr sz="1950" b="1">
                <a:solidFill>
                  <a:srgbClr val="0B0B0B"/>
                </a:solidFill>
              </a:rPr>
              <a:t>and unit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01177-5721-4C6E-9F94-F1B6E5B8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solidFill>
              <a:srgbClr val="FFED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059E1-DB95-44E8-A107-DE14983A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09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6B67"/>
                </a:solidFill>
              </a:defRPr>
            </a:pPr>
            <a:r>
              <a:rPr sz="1200" b="1">
                <a:solidFill>
                  <a:srgbClr val="6B6B67"/>
                </a:solidFill>
              </a:rPr>
              <a:t>THURSDAY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168B6-A385-444C-91A4-8BB3A751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86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B0B"/>
                </a:solidFill>
              </a:defRPr>
            </a:pPr>
            <a:r>
              <a:rPr sz="1950" b="1">
                <a:solidFill>
                  <a:srgbClr val="0B0B0B"/>
                </a:solidFill>
              </a:rPr>
              <a:t>Integrate frontend,</a:t>
            </a:r>
          </a:p>
          <a:p xmlns:a="http://schemas.openxmlformats.org/drawingml/2006/main">
            <a:pPr algn="l">
              <a:defRPr sz="1950" b="1">
                <a:solidFill>
                  <a:srgbClr val="0B0B0B"/>
                </a:solidFill>
              </a:defRPr>
            </a:pPr>
            <a:r>
              <a:rPr sz="1950" b="1">
                <a:solidFill>
                  <a:srgbClr val="0B0B0B"/>
                </a:solidFill>
              </a:rPr>
              <a:t>API and database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2A88B-3723-4668-8882-FC10ED23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147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solidFill>
              <a:srgbClr val="FFED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FD067-1332-4017-8B81-286A856B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09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6B67"/>
                </a:solidFill>
              </a:defRPr>
            </a:pPr>
            <a:r>
              <a:rPr sz="1200" b="1">
                <a:solidFill>
                  <a:srgbClr val="6B6B67"/>
                </a:solidFill>
              </a:rPr>
              <a:t>FRIDAY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792245-7630-4A3D-81BC-93DB7484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86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B0B"/>
                </a:solidFill>
              </a:defRPr>
            </a:pPr>
            <a:r>
              <a:rPr sz="1950" b="1">
                <a:solidFill>
                  <a:srgbClr val="0B0B0B"/>
                </a:solidFill>
              </a:rPr>
              <a:t>Demonstrate, record</a:t>
            </a:r>
          </a:p>
          <a:p xmlns:a="http://schemas.openxmlformats.org/drawingml/2006/main">
            <a:pPr algn="l">
              <a:defRPr sz="1950" b="1">
                <a:solidFill>
                  <a:srgbClr val="0B0B0B"/>
                </a:solidFill>
              </a:defRPr>
            </a:pPr>
            <a:r>
              <a:rPr sz="1950" b="1">
                <a:solidFill>
                  <a:srgbClr val="0B0B0B"/>
                </a:solidFill>
              </a:rPr>
              <a:t>feedback and improve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B36F6-B042-47FC-A3D5-B558160B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147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00"/>
          </a:solidFill>
          <a:ln xmlns:a="http://schemas.openxmlformats.org/drawingml/2006/main" w="0">
            <a:solidFill>
              <a:srgbClr val="FFED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4550F-087E-4179-B2B5-A4A1EF29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8966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B0B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A619AC-5471-48C6-AECD-860A22B5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ED00"/>
                </a:solidFill>
              </a:defRPr>
            </a:pPr>
            <a:r>
              <a:rPr sz="1650" b="1">
                <a:solidFill>
                  <a:srgbClr val="FFED00"/>
                </a:solidFill>
              </a:rPr>
              <a:t>Definition of done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C1931F-D4E6-4BC9-A9CF-AD6B014B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672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Accepted criteria • integrated frontend and API • authorization tested • migration included • peer reviewed • demonstration recorded</a:t>
            </a:r>
          </a:p>
        </p:txBody>
      </p:sp>
    </p:spTree>
    <p:extLst>
      <p:ext uri="{BB962C8B-B14F-4D97-AF65-F5344CB8AC3E}">
        <p14:creationId xmlns:p14="http://schemas.microsoft.com/office/powerpoint/2010/main" val="13674925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E0060-F821-4333-BC79-D37C955D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ED00"/>
                </a:solidFill>
              </a:defRPr>
            </a:pPr>
            <a:r>
              <a:rPr sz="1050" b="1">
                <a:solidFill>
                  <a:srgbClr val="FFED00"/>
                </a:solidFill>
              </a:rPr>
              <a:t>CREMS DELIVERY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47266-77C3-4CF7-ADD2-FFF0BE8C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A focused pilot now.</a:t>
            </a:r>
          </a:p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A reusable platform next.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1FA3B-A648-4AD5-8E22-B25CD34E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ED00"/>
                </a:solidFill>
              </a:defRPr>
            </a:pPr>
            <a:r>
              <a:rPr sz="1275" b="1">
                <a:solidFill>
                  <a:srgbClr val="FFED00"/>
                </a:solidFill>
              </a:rPr>
              <a:t>14 AUG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C504F-6B36-44AE-ACA2-5CDC996E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670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Scope, stack and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58909-4D7D-4C3B-B41A-D917710D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9565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ED00"/>
                </a:solidFill>
              </a:defRPr>
            </a:pPr>
            <a:r>
              <a:rPr sz="1275" b="1">
                <a:solidFill>
                  <a:srgbClr val="FFED00"/>
                </a:solidFill>
              </a:rPr>
              <a:t>11 SEP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B56B4-FA51-4096-B301-E88FAAE3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766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Booking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7FCA0-A2C8-41ED-9382-C7DFF4F9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ED00"/>
                </a:solidFill>
              </a:defRPr>
            </a:pPr>
            <a:r>
              <a:rPr sz="1275" b="1">
                <a:solidFill>
                  <a:srgbClr val="FFED00"/>
                </a:solidFill>
              </a:rPr>
              <a:t>09 OCT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31124-6BB2-4698-961A-E08DEFDD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862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Rental and maintenance lifecycle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5125B-0AB5-474C-B5EE-4307DB12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ED00"/>
                </a:solidFill>
              </a:defRPr>
            </a:pPr>
            <a:r>
              <a:rPr sz="1275" b="1">
                <a:solidFill>
                  <a:srgbClr val="FFED00"/>
                </a:solidFill>
              </a:rPr>
              <a:t>23 OCT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A8073-8F0B-496A-85F6-F2BA3E66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95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Integrated release candidate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112C8-67C9-48D6-B1F0-D61B61A5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ED00"/>
                </a:solidFill>
              </a:defRPr>
            </a:pPr>
            <a:r>
              <a:rPr sz="1275" b="1">
                <a:solidFill>
                  <a:srgbClr val="FFED00"/>
                </a:solidFill>
              </a:rPr>
              <a:t>30 OCT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C5B4B-8908-476A-A505-A33DC919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054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UAT and handover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f6c3665c84553"/>
          <a:stretch xmlns:a="http://schemas.openxmlformats.org/drawingml/2006/main"/>
        </p:blipFill>
        <p:spPr>
          <a:xfrm xmlns:a="http://schemas.openxmlformats.org/drawingml/2006/main">
            <a:off x="9906000" y="762000"/>
            <a:ext cx="1143000" cy="1143000"/>
          </a:xfrm>
          <a:prstGeom xmlns:a="http://schemas.openxmlformats.org/drawingml/2006/main" prst="roundRect">
            <a:avLst>
              <a:gd name="adj" fmla="val 15000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06254-E841-4FE2-B5A0-51675209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6007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C7C2"/>
                </a:solidFill>
              </a:defRPr>
            </a:pPr>
            <a:r>
              <a:rPr sz="1275" b="1">
                <a:solidFill>
                  <a:srgbClr val="C7C7C2"/>
                </a:solidFill>
              </a:rPr>
              <a:t>Carpenters Rentals + Carptrac</a:t>
            </a:r>
          </a:p>
        </p:txBody>
      </p:sp>
    </p:spTree>
    <p:extLst>
      <p:ext uri="{BB962C8B-B14F-4D97-AF65-F5344CB8AC3E}">
        <p14:creationId xmlns:p14="http://schemas.microsoft.com/office/powerpoint/2010/main" val="247665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2026-08-09T22:19:05.4220000Z</dcterms:created>
  <dcterms:modified xsi:type="dcterms:W3CDTF">2026-08-09T22:19:05.4220000Z</dcterms:modified>
</coreProperties>
</file>